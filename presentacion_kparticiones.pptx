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DC8E8"/>
                </a:solidFill>
              </a:rPr>
              <a:t>Análisis y Diseño de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Extensión de Bi-Particiones
a K-Particiones en IIT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E8"/>
                </a:solidFill>
              </a:rPr>
              <a:t>Búsqueda de la Partición de Mínima Información (MIP) con k ≥ 2 grupos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99AA"/>
                </a:solidFill>
              </a:rPr>
              <a:t>ProyectoAnalisis2026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¿Cuál es el problema?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C8E8"/>
                </a:solidFill>
              </a:rPr>
              <a:t>Teoría de Información Integrada (IIT)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100">
                <a:solidFill>
                  <a:srgbClr val="2D2D2D"/>
                </a:solidFill>
              </a:rPr>
              <a:t>▸  IIT mide cuánta información integra un sistema (φ) que no puede recuperarse si se divide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2D2D2D"/>
                </a:solidFill>
              </a:rPr>
              <a:t>▸  La Partición de Mínima Información (MIP) es el corte que menos destruye esa integración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2D2D2D"/>
                </a:solidFill>
              </a:rPr>
              <a:t>▸  Encontrar la MIP es un problema de optimización combinatoria NP-difícil</a:t>
            </a:r>
          </a:p>
          <a:p>
            <a:pPr algn="l">
              <a:spcBef>
                <a:spcPts val="400"/>
              </a:spcBef>
            </a:pPr>
            <a:r>
              <a:rPr sz="2100">
                <a:solidFill>
                  <a:srgbClr val="2D2D2D"/>
                </a:solidFill>
              </a:rPr>
              <a:t>▸  IIT clásica solo considera biparticiones (k=2): divide el sistema en exactamente 2 partes</a:t>
            </a:r>
          </a:p>
        </p:txBody>
      </p:sp>
      <p:pic>
        <p:nvPicPr>
          <p:cNvPr id="8" name="Picture 7" descr="01_biparti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800335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Extensión a k-Particiones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C8E8"/>
                </a:solidFill>
              </a:rPr>
              <a:t>De 1 hiperplano de corte a k−1 hiperplanos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9A"/>
                </a:solidFill>
              </a:rPr>
              <a:t>k=2  →  1 hiperplano de corte</a:t>
            </a:r>
          </a:p>
        </p:txBody>
      </p:sp>
      <p:pic>
        <p:nvPicPr>
          <p:cNvPr id="8" name="Picture 7" descr="hipercubo_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5303520" cy="55696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8855"/>
                </a:solidFill>
              </a:rPr>
              <a:t>k=3  →  2 hiperplanos de corte</a:t>
            </a:r>
          </a:p>
        </p:txBody>
      </p:sp>
      <p:pic>
        <p:nvPicPr>
          <p:cNvPr id="10" name="Picture 9" descr="hipercubo_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03520" cy="55696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Propiedad garantizada:  φ(k) ≤ φ(k−1) ≤ … ≤ φ(2)  —  más grupos, igual o menor pérdida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Algoritmos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C8E8"/>
                </a:solidFill>
              </a:rPr>
              <a:t>Patrón Template Method + SA para sistemas grandes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828800" cy="54864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Estrategia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508760"/>
            <a:ext cx="5577840" cy="54864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600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Enfoque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1097280" cy="54864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00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k&gt;2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508760"/>
            <a:ext cx="2560320" cy="54864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Complejidad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18288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240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Q-Nodos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148840"/>
            <a:ext cx="557784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224028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Submodularidad + SA multi-arranque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148840"/>
            <a:ext cx="109728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240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8844"/>
                </a:solidFill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148840"/>
            <a:ext cx="256032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O(n² log n) + 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880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Geometric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788920"/>
            <a:ext cx="55778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28803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Hipercubo geométrico + DP de subconjuntos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10972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2880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8844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2788920"/>
            <a:ext cx="2560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2880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O(n·2ⁿ) + 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29000"/>
            <a:ext cx="182880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20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Fuerza Bruta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429000"/>
            <a:ext cx="557784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352044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Enumeración completa de biparticiones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429000"/>
            <a:ext cx="109728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3520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3333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429000"/>
            <a:ext cx="2560320" cy="548640"/>
          </a:xfrm>
          <a:prstGeom prst="rect">
            <a:avLst/>
          </a:prstGeom>
          <a:solidFill>
            <a:srgbClr val="D6E4F7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0032" y="3520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2D"/>
                </a:solidFill>
              </a:rPr>
              <a:t>O(2ⁿ)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0624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Para n ≤ umbral → enumeración exacta (óptimo global garantizado)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Para n grande  → BuscadorKRecocido: SA multi-cadena con criterio de Metropolis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BuscadorKDP: inicialización con DP de subconjuntos O(3ⁿ·k) + refinamiento 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Resultados Experimentales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DC8E8"/>
                </a:solidFill>
              </a:rPr>
              <a:t>Q-Nodos vs Geometric — sistemas 10A a 25A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5</a:t>
            </a:r>
          </a:p>
        </p:txBody>
      </p:sp>
      <p:pic>
        <p:nvPicPr>
          <p:cNvPr id="7" name="Picture 6" descr="comparacion_Q_vs_G_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577840" cy="2324100"/>
          </a:xfrm>
          <a:prstGeom prst="rect">
            <a:avLst/>
          </a:prstGeom>
        </p:spPr>
      </p:pic>
      <p:pic>
        <p:nvPicPr>
          <p:cNvPr id="8" name="Picture 7" descr="mip_confirmacion_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278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486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▸  Q-Nodos y Geometric coinciden en φ para k=2 en todos los sistemas pequeños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▸  Geometric es hasta 10× más rápido en sistemas de n&gt;8 nodos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2D2D2D"/>
                </a:solidFill>
              </a:rPr>
              <a:t>▸  k=3 mejora φ en sistemas con alta integración distribuida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2000" b="0">
                <a:solidFill>
                  <a:srgbClr val="DDEEFF"/>
                </a:solidFill>
              </a:rPr>
              <a:t>Sistema A  ·  4 nodos  ·  estado inicial 1000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DDEEFF"/>
                </a:solidFill>
              </a:rPr>
              <a:t>Subsistema: alcance=1110, mecanismo=1110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DDEE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E86A1F"/>
                </a:solidFill>
              </a:rPr>
              <a:t>python demo_presentacion.py --paso 1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ADC8E8"/>
                </a:solidFill>
              </a:rPr>
              <a:t>  → Q-Nodos vs Geometric con k=2</a:t>
            </a:r>
          </a:p>
          <a:p>
            <a:pPr>
              <a:spcBef>
                <a:spcPts val="300"/>
              </a:spcBef>
            </a:pPr>
            <a:r>
              <a:rPr sz="2000" b="0">
                <a:solidFill>
                  <a:srgbClr val="DDEE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E86A1F"/>
                </a:solidFill>
              </a:rPr>
              <a:t>python demo_presentacion.py --paso 2</a:t>
            </a:r>
          </a:p>
          <a:p>
            <a:pPr>
              <a:spcBef>
                <a:spcPts val="300"/>
              </a:spcBef>
            </a:pPr>
            <a:r>
              <a:rPr sz="1600" b="0">
                <a:solidFill>
                  <a:srgbClr val="ADC8E8"/>
                </a:solidFill>
              </a:rPr>
              <a:t>  → Comparación k=2 vs k=3 en ambas estrategias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Conclusiones y Lecciones Aprendidas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69A"/>
                </a:solidFill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φ(k) ≤ φ(2) siempre se cumple — más grupos no empeoran la solución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Q-Nodos y Geometric coinciden en k=2 con la solución exacta (fuerza bruta)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SA multi-cadena permite escalar a sistemas donde la enumeración es inviable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DP de subconjuntos (BuscadorKDP) da mejor punto de inicio que SA puro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569A"/>
                </a:solidFill>
              </a:rPr>
              <a:t>Lecciones Aprendidas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La canonicalización de etiquetas es crítica para evitar duplicados en la búsqueda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El umbral exacto/heurístico debe calibrarse por estrategia, no ser global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Los tests de consistencia k=2 vs fuerza bruta son la mejor red de seguridad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2D2D2D"/>
                </a:solidFill>
              </a:rPr>
              <a:t>▸  Trabajo futuro: métricas alternativas (Fisher-Rao, Wasserstein) y n &gt;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126480"/>
            <a:ext cx="11430000" cy="45720"/>
          </a:xfrm>
          <a:prstGeom prst="rect">
            <a:avLst/>
          </a:prstGeom>
          <a:solidFill>
            <a:srgbClr val="E8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</a:rPr>
              <a:t>ProyectoAnalisis2026  ·  Análisis y Diseño de Algoritmos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